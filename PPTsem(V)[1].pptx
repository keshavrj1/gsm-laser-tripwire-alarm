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3">
  <p:sldMasterIdLst>
    <p:sldMasterId id="2147483648" r:id="rId1"/>
  </p:sldMasterIdLst>
  <p:notesMasterIdLst>
    <p:notesMasterId r:id="rId8"/>
  </p:notesMasterIdLst>
  <p:handoutMasterIdLst>
    <p:handoutMasterId r:id="rId19"/>
  </p:handoutMasterIdLst>
  <p:sldIdLst>
    <p:sldId id="256" r:id="rId3"/>
    <p:sldId id="377" r:id="rId4"/>
    <p:sldId id="378" r:id="rId5"/>
    <p:sldId id="379" r:id="rId6"/>
    <p:sldId id="389" r:id="rId7"/>
    <p:sldId id="380" r:id="rId9"/>
    <p:sldId id="381" r:id="rId10"/>
    <p:sldId id="391" r:id="rId11"/>
    <p:sldId id="385" r:id="rId12"/>
    <p:sldId id="384" r:id="rId13"/>
    <p:sldId id="383" r:id="rId14"/>
    <p:sldId id="388" r:id="rId15"/>
    <p:sldId id="387" r:id="rId16"/>
    <p:sldId id="386" r:id="rId17"/>
    <p:sldId id="390" r:id="rId18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2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0" autoAdjust="0"/>
    <p:restoredTop sz="85680" autoAdjust="0"/>
  </p:normalViewPr>
  <p:slideViewPr>
    <p:cSldViewPr showGuides="1">
      <p:cViewPr varScale="1">
        <p:scale>
          <a:sx n="108" d="100"/>
          <a:sy n="108" d="100"/>
        </p:scale>
        <p:origin x="1452" y="96"/>
      </p:cViewPr>
      <p:guideLst>
        <p:guide orient="horz" pos="2190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693B00E-AB39-48E9-ABB2-C02259958CE6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F1C8B7F-6C16-4102-88C6-EFA6A95E396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33C55E0-6D86-40E2-A79D-0D239CA1D1C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06CC9F5-0D10-4EDE-A936-8E1268D32DC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6CC9F5-0D10-4EDE-A936-8E1268D32DC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6CC9F5-0D10-4EDE-A936-8E1268D32DC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0264" y="76200"/>
            <a:ext cx="8458200" cy="66294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0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301146" y="153465"/>
            <a:ext cx="8534400" cy="163121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en-US" sz="2400" b="1" dirty="0"/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ArduSecure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Laser Based Intrusion Detection &amp; SMS Alert System Using Arduino” </a:t>
            </a:r>
            <a:b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1146" y="4419600"/>
          <a:ext cx="8538055" cy="17526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4292766"/>
                <a:gridCol w="208280"/>
                <a:gridCol w="4037009"/>
              </a:tblGrid>
              <a:tr h="1752600">
                <a:tc>
                  <a:txBody>
                    <a:bodyPr/>
                    <a:lstStyle/>
                    <a:p>
                      <a:pPr algn="l"/>
                      <a:r>
                        <a:rPr kumimoji="0" lang="en-US" sz="1600" b="1" kern="1200" dirty="0"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kumimoji="0" lang="en-US" sz="1600" b="1" kern="1200" dirty="0">
                          <a:solidFill>
                            <a:srgbClr val="000099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                      </a:t>
                      </a:r>
                      <a:endParaRPr kumimoji="0" lang="en-US" sz="1600" b="1" kern="1200" dirty="0">
                        <a:solidFill>
                          <a:srgbClr val="000099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16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600" b="1" kern="12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     PRESENTED BY</a:t>
                      </a:r>
                      <a:r>
                        <a:rPr kumimoji="0" lang="en-US" sz="1600" b="1" kern="1200" dirty="0">
                          <a:solidFill>
                            <a:srgbClr val="000099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:-</a:t>
                      </a:r>
                      <a:endParaRPr kumimoji="0" lang="en-US" sz="1600" b="1" kern="1200" dirty="0">
                        <a:solidFill>
                          <a:srgbClr val="000099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l"/>
                      <a:r>
                        <a:rPr kumimoji="0" lang="en-US" sz="1600" b="1" kern="1200" dirty="0">
                          <a:solidFill>
                            <a:srgbClr val="000099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</a:t>
                      </a:r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Mr. Keshav Joshi</a:t>
                      </a:r>
                      <a:endParaRPr lang="en-US" sz="1600" b="0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altLang="en-US" sz="16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</a:t>
                      </a:r>
                      <a:endParaRPr lang="en-US" sz="1600" dirty="0">
                        <a:solidFill>
                          <a:srgbClr val="00009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277955" y="5949280"/>
            <a:ext cx="6599550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latinLnBrk="1">
              <a:defRPr/>
            </a:pPr>
            <a:r>
              <a:rPr lang="en-US" b="1" dirty="0">
                <a:solidFill>
                  <a:srgbClr val="FF0000"/>
                </a:solidFill>
              </a:rPr>
              <a:t>YADAVRAO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TASGAONKAR INSTITUTE OF ENGINEERING AND TECHNOLOGY, KARJAT</a:t>
            </a:r>
            <a:endParaRPr lang="en-US" b="1" dirty="0">
              <a:solidFill>
                <a:srgbClr val="CC66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39246" y="1349753"/>
          <a:ext cx="8458200" cy="11886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8200"/>
              </a:tblGrid>
              <a:tr h="113782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800" b="1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VIVA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PRESENTATION SEM :- V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defRPr/>
                      </a:pPr>
                      <a:br>
                        <a:rPr lang="en-US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 OF COMPUTER ENGINEERING 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defRPr/>
                      </a:pPr>
                      <a:endParaRPr lang="en-US" sz="18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45687" marB="4568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0" name="Google Shape;112;p1"/>
          <p:cNvPicPr preferRelativeResize="0"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0226" y="2708920"/>
            <a:ext cx="1536070" cy="1536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Google Shape;113;p1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470" t="-10422" r="-28470" b="-10422"/>
          <a:stretch>
            <a:fillRect/>
          </a:stretch>
        </p:blipFill>
        <p:spPr bwMode="auto">
          <a:xfrm>
            <a:off x="1331640" y="2613817"/>
            <a:ext cx="2448272" cy="172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63888" y="620688"/>
            <a:ext cx="140415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en-IN" sz="27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23120" y="1484784"/>
            <a:ext cx="7920880" cy="526297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research work   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Definition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Flowchart / Design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42074" y="247015"/>
            <a:ext cx="265985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ln w="0"/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2500" b="1" dirty="0">
              <a:ln w="0"/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43608" y="670969"/>
            <a:ext cx="6336704" cy="5588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ArduSecure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laser-based intrusion detection system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developed using Arduino.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combines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optical sensing (Laser–LDR)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 (GSM)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detect and report intrusions.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an intruder interrupts the laser beam,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processes the change in LDR output.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immediately activates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buzzer/alarm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local notification.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Simultaneously,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GSM module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transmits an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SMS alert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the owner’s mobile phone.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implementation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uses Arduino IDE with AT Commands for GSM communication.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low-cost, reliable, and real-time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offering scalability for IoT-based enhancements.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include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home security, offices, shops, banks, warehouses, and restricted zones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98867" y="404664"/>
            <a:ext cx="274626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ln w="0"/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5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1539" y="980728"/>
            <a:ext cx="8280920" cy="6079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is a major concern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homes, offices, and restricted areas.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security systems often require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monitoring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can be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ArduSecure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and cost-effective solution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intrusion detection.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Laser–LDR pair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sense unauthorized entry.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acts as the central controller to process sensor data.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GSM module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send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SMS alerts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owner.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alarm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(buzzer) provides immediate on-site notification.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applied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homes, offices, banks, warehouses, and restricted zones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64704"/>
            <a:ext cx="7772400" cy="608111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research work   </a:t>
            </a:r>
            <a:endParaRPr lang="en-US" sz="25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 txBox="1"/>
          <p:nvPr/>
        </p:nvSpPr>
        <p:spPr>
          <a:xfrm>
            <a:off x="539552" y="1651533"/>
            <a:ext cx="7620000" cy="35549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 cap="all" spc="12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57200" y="1329528"/>
            <a:ext cx="6851104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Expandable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IoT-based remote monitoring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Customizable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detection sensitivity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alert messages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Low-cost, real-time security solution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homes, offices, and restricted areas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integrated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zones or additional sensors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enhanced security.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1412776"/>
            <a:ext cx="799288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intrusion detection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Arduino.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unauthorized entry using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Laser–LDR mechanism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alerts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buzzer/alarm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local notification.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 alerts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owner via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GSM module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low-cost, reliable, and easy-to-implement security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multiple zones or IoT integration.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05041" y="404664"/>
            <a:ext cx="221246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ln w="0"/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25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7456" y="332656"/>
            <a:ext cx="36890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1">
              <a:defRPr/>
            </a:pPr>
            <a:r>
              <a:rPr lang="en-US" sz="2500" b="1" dirty="0">
                <a:ln w="0"/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LITERATURE REVIEW</a:t>
            </a:r>
            <a:endParaRPr lang="en-US" sz="2500" b="1" dirty="0">
              <a:ln w="0"/>
              <a:solidFill>
                <a:schemeClr val="tx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80" y="931683"/>
            <a:ext cx="6264696" cy="54316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688" y="476672"/>
            <a:ext cx="5256584" cy="57042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5776" y="548680"/>
            <a:ext cx="417133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ln w="0"/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DEFINITION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6" y="1025734"/>
            <a:ext cx="6768752" cy="448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Increasing need for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security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homes, offices, and restricted areas.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(CCTV, manual monitoring) are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require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supervision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often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instant alerts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multi-zone scalability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ArduSecure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low-cost, real-time intrusion detection system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Laser–LDR mechanism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sense unauthorized entry.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sensor input and triggers alerts.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for local alarm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GSM module for SMS notification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to be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reliable, easy to implement, and scalable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various security applications.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09522" y="332656"/>
            <a:ext cx="332494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500" b="1" dirty="0">
                <a:ln w="0"/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2500" b="1" dirty="0">
              <a:ln w="0"/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3585" y="1052736"/>
            <a:ext cx="7416824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ArduSecure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laser-based intrusion detection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Arduino.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Laser–LDR pair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detects any interruption caused by an intruder.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the sensor signal in real-time.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Buzzer/Alarm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immediate local notification.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GSM Module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sends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 alert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owner’s mobile phone.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low-cost, reliable, and scalable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multiple zones or IoT integration.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homes, offices, warehouses, and restricted areas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04346" y="332656"/>
            <a:ext cx="393530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500" b="1" dirty="0">
                <a:ln w="0"/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ulim" pitchFamily="34" charset="-127"/>
              </a:rPr>
              <a:t> FLOW CHART / DESIGN</a:t>
            </a:r>
            <a:endParaRPr lang="en-US" sz="2500" b="1" dirty="0">
              <a:ln w="0"/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Gulim" pitchFamily="34" charset="-127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160748"/>
            <a:ext cx="3168352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99792" y="401785"/>
            <a:ext cx="342533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500" b="1" dirty="0">
                <a:ln w="0"/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DESIGN</a:t>
            </a:r>
            <a:endParaRPr lang="en-IN" sz="2500" b="1" dirty="0">
              <a:ln w="0"/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220755"/>
            <a:ext cx="7092789" cy="4728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0" y="331887"/>
            <a:ext cx="457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500" b="1" dirty="0">
                <a:ln w="0"/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en-IN" sz="2500" b="1" dirty="0">
              <a:ln w="0"/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9790" y="1066800"/>
            <a:ext cx="7145020" cy="62814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lnSpc>
                <a:spcPct val="150000"/>
              </a:lnSpc>
              <a:buNone/>
            </a:pPr>
            <a:endParaRPr lang="en-I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79512" y="2463272"/>
            <a:ext cx="14713796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043608" y="1309110"/>
            <a:ext cx="347159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School classroom monitoring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Temple crowd control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Cold storage security for farmers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Home security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Office and laboratory safety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Warehouse and factory monitoring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Parking area management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Museum and exhibition protection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63688" y="243146"/>
            <a:ext cx="5184576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500" b="1" dirty="0">
                <a:ln w="0"/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500" b="1" dirty="0">
              <a:ln w="0"/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691680" y="822960"/>
          <a:ext cx="6096000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/ Method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 / Contribution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&amp; Singh, 2021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 + LDR + GSM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laser-based intrusion detection with SMS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range of detection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Low-cost, easy implementation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Patel et al., 2020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 &amp; Laser Sensors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intrusion detection for small premises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Affected by light conditions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Reliable short-distance detection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Sharma &amp; Gupta, 2019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 UNO + GSM Shield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SMS notification system for home security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video evidence captured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Quick SMS response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Ahmed et al., 2018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Laser-LDR Circuit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 accuracy of 95% in lab setup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Sensitive to alignment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 at single point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Verma et al., 2022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with Wi-Fi Module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monitoring via mobile app</a:t>
                      </a:r>
                      <a:endParaRPr lang="it-IT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internet connectivity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 accessibility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Reddy et al., 2017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GSM &amp; PIR Sensor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Intrusion detection with motion sensing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PIR false triggers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motion + alert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Khan &amp; Ali, 2016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Laser + Microcontroller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monitoring system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Single-node architecture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Robust beam interruption detection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Bhattacharya, 2021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 + Buzzer Alarm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alert-only security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remote alert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local warning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187624" y="764704"/>
          <a:ext cx="6624735" cy="47525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947"/>
                <a:gridCol w="1324947"/>
                <a:gridCol w="1324947"/>
                <a:gridCol w="1324947"/>
                <a:gridCol w="1324947"/>
              </a:tblGrid>
              <a:tr h="476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/ Method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 / Contribution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664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Roy et al., 2019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GSM-based Arduino System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SMS alert for intrusion in schools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scale to campuses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Cost-effective for small areas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664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Jain &amp; Kaur, 2020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&amp; GSM Hybrid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IoT monitoring with SMS fallback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Wi-Fi + GSM hardware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Redundant alert system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476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Thomas &amp; Raj, 2018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 with Sensors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premises monitoring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cloud storage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DIY security system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851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Choudhary et al., 2017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Multi-sensor Security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Intrusion detection with multiple LDR sensors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complexity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Reliable multi-point coverage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476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Singh et al., 2021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GSM + Arduino + IoT Cloud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SMS + cloud-based data storage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Internet dependent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&amp; stored evidence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476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Pandey et al., 2022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 Mega + GSM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Large-scale area surveillance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cost hardware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multiple sensors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664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Alvi et al., 2016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GSM Alert System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SMS-based intrusion alert in rural areas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GSM network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Works without internet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5717</Words>
  <Application>WPS Presentation</Application>
  <PresentationFormat>On-screen Show (4:3)</PresentationFormat>
  <Paragraphs>293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Calibri</vt:lpstr>
      <vt:lpstr>Gulim</vt:lpstr>
      <vt:lpstr>Malgun Gothic</vt:lpstr>
      <vt:lpstr>Microsoft YaHei</vt:lpstr>
      <vt:lpstr>Arial Unicode MS</vt:lpstr>
      <vt:lpstr>Arial Black</vt:lpstr>
      <vt:lpstr>Essential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rani indhe</dc:creator>
  <cp:lastModifiedBy>Keshav Joshi</cp:lastModifiedBy>
  <cp:revision>350</cp:revision>
  <cp:lastPrinted>2022-01-11T04:54:00Z</cp:lastPrinted>
  <dcterms:created xsi:type="dcterms:W3CDTF">2006-08-16T00:00:00Z</dcterms:created>
  <dcterms:modified xsi:type="dcterms:W3CDTF">2026-02-28T14:33:16Z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BA0BDAD584B54BCEBFE3FDB637E192F7_12</vt:lpwstr>
  </property>
  <property fmtid="{D5CDD505-2E9C-101B-9397-08002B2CF9AE}" pid="3" name="KSOProductBuildVer">
    <vt:lpwstr>1033-12.2.0.23196</vt:lpwstr>
  </property>
</Properties>
</file>